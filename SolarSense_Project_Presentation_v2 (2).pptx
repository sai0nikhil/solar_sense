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. ABSTRACT OF THE PROJECT" id="{591BF6B8-11D7-EDDB-B8F8-FA9912F1B3D0}">
          <p14:sldIdLst>
            <p14:sldId id="256"/>
            <p14:sldId id="257"/>
          </p14:sldIdLst>
        </p14:section>
        <p14:section name="1. DATASET" id="{B34292C6-9EE5-39A2-D86C-BEB697EF6FE1}">
          <p14:sldIdLst>
            <p14:sldId id="258"/>
          </p14:sldIdLst>
        </p14:section>
        <p14:section name="2. EXPLORATORY DATA ANALYSIS" id="{F2AEFED0-0D72-D09C-BE1D-A9C8EE129910}">
          <p14:sldIdLst>
            <p14:sldId id="259"/>
          </p14:sldIdLst>
        </p14:section>
        <p14:section name="3. MISSING VALUE REPLACEMENT" id="{48EAE888-F747-C871-506C-C16C8E491833}">
          <p14:sldIdLst>
            <p14:sldId id="260"/>
          </p14:sldIdLst>
        </p14:section>
        <p14:section name="4. PRINCIPAL COMPONENT ANALYSIS" id="{781783CD-9E36-7174-B76C-6EC0A337450E}">
          <p14:sldIdLst>
            <p14:sldId id="261"/>
          </p14:sldIdLst>
        </p14:section>
        <p14:section name="5. SUPERVISED MODELS" id="{BA03D5FC-0835-73AC-1DB4-AAC90F97003E}">
          <p14:sldIdLst>
            <p14:sldId id="262"/>
          </p14:sldIdLst>
        </p14:section>
        <p14:section name="5. UNSUPERVISED MODELS" id="{8D8CB7F2-44F4-3AF1-5C00-B627A30F3EC9}">
          <p14:sldIdLst>
            <p14:sldId id="263"/>
          </p14:sldIdLst>
        </p14:section>
        <p14:section name="6. ACCURACY &amp; METRICS" id="{25AD38E9-0CBB-0E28-C08A-C74EA629137C}">
          <p14:sldIdLst>
            <p14:sldId id="264"/>
          </p14:sldIdLst>
        </p14:section>
        <p14:section name="7. CROSS VALIDATION" id="{EA8A48AE-5447-4A82-6433-D2E18E678C17}">
          <p14:sldIdLst>
            <p14:sldId id="265"/>
          </p14:sldIdLst>
        </p14:section>
        <p14:section name="Deployment" id="{5020DF74-E43A-8EE6-6AB6-79CA5CF1817B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B2E"/>
                </a:solidFill>
                <a:latin typeface="+mj-lt"/>
              </a:defRPr>
            </a:pPr>
            <a:r>
              <a:rPr lang="en-US" sz="1400" b="0" i="0" u="none" strike="noStrike">
                <a:solidFill>
                  <a:srgbClr val="0B1B2E"/>
                </a:solidFill>
                <a:latin typeface="+mj-lt"/>
              </a:rPr>
              <a:t>Correlation with AC power (Pearson 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B2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Ambient temp</c:v>
                </c:pt>
                <c:pt idx="1">
                  <c:v>Temp diff (ΔT)</c:v>
                </c:pt>
                <c:pt idx="2">
                  <c:v>Module temp</c:v>
                </c:pt>
                <c:pt idx="3">
                  <c:v>Irradiation</c:v>
                </c:pt>
                <c:pt idx="4">
                  <c:v>DC power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0.54</c:v>
                </c:pt>
                <c:pt idx="1">
                  <c:v>0.76</c:v>
                </c:pt>
                <c:pt idx="2">
                  <c:v>0.81</c:v>
                </c:pt>
                <c:pt idx="3">
                  <c:v>0.97</c:v>
                </c:pt>
                <c:pt idx="4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CE-4CCF-A5A4-245474E441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7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DCE4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B2E"/>
                </a:solidFill>
                <a:latin typeface="+mj-lt"/>
              </a:defRPr>
            </a:pPr>
            <a:r>
              <a:rPr lang="en-US" sz="1400" b="0" i="0" u="none" strike="noStrike">
                <a:solidFill>
                  <a:srgbClr val="0B1B2E"/>
                </a:solidFill>
                <a:latin typeface="+mj-lt"/>
              </a:rPr>
              <a:t>Irradiance RMSE (kW/m², 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8F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066-4EA3-90E4-D76D720E405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066-4EA3-90E4-D76D720E4053}"/>
              </c:ext>
            </c:extLst>
          </c:dPt>
          <c:dPt>
            <c:idx val="2"/>
            <c:invertIfNegative val="0"/>
            <c:bubble3D val="0"/>
            <c:spPr>
              <a:solidFill>
                <a:srgbClr val="1FB5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066-4EA3-90E4-D76D720E4053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B2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Diurnal match</c:v>
                </c:pt>
                <c:pt idx="1">
                  <c:v>Forward fill</c:v>
                </c:pt>
                <c:pt idx="2">
                  <c:v>Linear spline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0.16500000000000001</c:v>
                </c:pt>
                <c:pt idx="1">
                  <c:v>0.13</c:v>
                </c:pt>
                <c:pt idx="2">
                  <c:v>0.108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066-4EA3-90E4-D76D720E40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7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CE4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B2E"/>
                </a:solidFill>
                <a:latin typeface="+mj-lt"/>
              </a:defRPr>
            </a:pPr>
            <a:r>
              <a:rPr lang="en-IN" sz="1400" b="0" i="0" u="none" strike="noStrike">
                <a:solidFill>
                  <a:srgbClr val="0B1B2E"/>
                </a:solidFill>
                <a:latin typeface="+mj-lt"/>
              </a:rPr>
              <a:t>Explained variance by component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%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B2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PC5+6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57.62</c:v>
                </c:pt>
                <c:pt idx="1">
                  <c:v>21.92</c:v>
                </c:pt>
                <c:pt idx="2">
                  <c:v>16.62</c:v>
                </c:pt>
                <c:pt idx="3">
                  <c:v>3.12</c:v>
                </c:pt>
                <c:pt idx="4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53-4675-BAFC-208BF1A16B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7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CE4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B2E"/>
                </a:solidFill>
                <a:latin typeface="+mj-lt"/>
              </a:defRPr>
            </a:pPr>
            <a:r>
              <a:rPr lang="en-IN" sz="1400" b="0" i="0" u="none" strike="noStrike">
                <a:solidFill>
                  <a:srgbClr val="0B1B2E"/>
                </a:solidFill>
                <a:latin typeface="+mj-lt"/>
              </a:rPr>
              <a:t>Holdout R² (AC power)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8F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8C5-4EA2-BCCD-536043516E7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8C5-4EA2-BCCD-536043516E72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8C5-4EA2-BCCD-536043516E72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B2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Ridge</c:v>
                </c:pt>
                <c:pt idx="1">
                  <c:v>Random Forest</c:v>
                </c:pt>
                <c:pt idx="2">
                  <c:v>HistGB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0.87409999999999999</c:v>
                </c:pt>
                <c:pt idx="1">
                  <c:v>0.95709999999999995</c:v>
                </c:pt>
                <c:pt idx="2">
                  <c:v>0.96250000000000002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8C5-4EA2-BCCD-536043516E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7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>
              <a:solidFill>
                <a:srgbClr val="DCE4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B2E"/>
                </a:solidFill>
                <a:latin typeface="+mj-lt"/>
              </a:defRPr>
            </a:pPr>
            <a:r>
              <a:rPr lang="en-IN" sz="1400" b="0" i="0" u="none" strike="noStrike">
                <a:solidFill>
                  <a:srgbClr val="0B1B2E"/>
                </a:solidFill>
                <a:latin typeface="+mj-lt"/>
              </a:rPr>
              <a:t>5-fold mean CV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</c:v>
                </c:pt>
              </c:strCache>
            </c:strRef>
          </c:tx>
          <c:spPr>
            <a:solidFill>
              <a:srgbClr val="8F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F2F-4DFF-BD32-5032355711D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F2F-4DFF-BD32-5032355711D8}"/>
              </c:ext>
            </c:extLst>
          </c:dPt>
          <c:dPt>
            <c:idx val="2"/>
            <c:invertIfNegative val="0"/>
            <c:bubble3D val="0"/>
            <c:spPr>
              <a:solidFill>
                <a:srgbClr val="1FB5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F2F-4DFF-BD32-5032355711D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B2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97.38</c:v>
                </c:pt>
                <c:pt idx="1">
                  <c:v>97.9</c:v>
                </c:pt>
                <c:pt idx="2">
                  <c:v>98.01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F2F-4DFF-BD32-5032355711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7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8.5"/>
          <c:min val="96"/>
        </c:scaling>
        <c:delete val="0"/>
        <c:axPos val="l"/>
        <c:majorGridlines>
          <c:spPr>
            <a:ln w="6350" cap="flat">
              <a:solidFill>
                <a:srgbClr val="DCE4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677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280160"/>
            <a:ext cx="4206240" cy="420624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223760" y="457200"/>
            <a:ext cx="2011680" cy="2011680"/>
          </a:xfrm>
          <a:prstGeom prst="ellipse">
            <a:avLst/>
          </a:prstGeom>
          <a:solidFill>
            <a:srgbClr val="F5A623">
              <a:alpha val="45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058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</a:rPr>
              <a:t>MACHINE LEARNING CAPSTONE PROJECT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SolarSense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0F0"/>
                </a:solidFill>
              </a:rPr>
              <a:t>SCADA Telemetry Intelligence &amp; Machine Learning Power Forecasting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548640" y="34564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136,472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0416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7D6"/>
                </a:solidFill>
              </a:rPr>
              <a:t>telemetry records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06040" y="338328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2606040" y="34564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2606040" y="40416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7D6"/>
                </a:solidFill>
              </a:rPr>
              <a:t>inverter strings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338328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4663440" y="34564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40416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7D6"/>
                </a:solidFill>
              </a:rPr>
              <a:t>solar plants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20840" y="338328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6720840" y="34564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40416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7D6"/>
                </a:solidFill>
              </a:rPr>
              <a:t>days · 15-min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AEE357-71C6-5760-803C-1E64360CE8DF}"/>
              </a:ext>
            </a:extLst>
          </p:cNvPr>
          <p:cNvSpPr txBox="1"/>
          <p:nvPr/>
        </p:nvSpPr>
        <p:spPr>
          <a:xfrm>
            <a:off x="4660900" y="4767282"/>
            <a:ext cx="5125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u="none" strike="noStrike" dirty="0">
                <a:solidFill>
                  <a:schemeClr val="bg1"/>
                </a:solidFill>
                <a:effectLst/>
                <a:latin typeface="+mn-lt"/>
              </a:rPr>
              <a:t>SCADA is Supervisory Control and Data Acquisition</a:t>
            </a:r>
            <a:r>
              <a:rPr lang="en-IN" sz="16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A623"/>
                </a:solidFill>
              </a:rPr>
              <a:t>0. ABSTRACT OF THE PROJECT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objectives, methods and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66928" y="1179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0515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</a:rPr>
              <a:t>Utility-scale SCADA ingestion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136,472 records, 2 plants, 34 days at 15-min intervals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66928" y="1911096"/>
            <a:ext cx="402336" cy="402336"/>
          </a:xfrm>
          <a:prstGeom prst="ellipse">
            <a:avLst/>
          </a:prstGeom>
          <a:solidFill>
            <a:srgbClr val="1FB5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66928" y="1911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783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</a:rPr>
              <a:t>Understanding sensor gap challenge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Weather dropouts (82 slots in Plant 1) bias naive fills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66928" y="2642616"/>
            <a:ext cx="402336" cy="402336"/>
          </a:xfrm>
          <a:prstGeom prst="ellipse">
            <a:avLst/>
          </a:prstGeom>
          <a:solidFill>
            <a:srgbClr val="3D8B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66928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5146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</a:rPr>
              <a:t>Physics-validated 3-tier imputation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Spline, diurnal match, night zero-clamp; RMSE 0.108 kW/m²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66928" y="3374136"/>
            <a:ext cx="402336" cy="402336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66928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2461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</a:rPr>
              <a:t>Cross-plant electrical calibration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Fixed a 10× DC artifact; efficiency 97.72%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66928" y="4105656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66928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9776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</a:rPr>
              <a:t>Dimensionality reduction via PCA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Top 3 retain 96.17% of variance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05156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73168" y="1179576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773168" y="1179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10515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</a:rPr>
              <a:t>Unsupervised clustering &amp; DBSCAN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3 generation regimes; 4.4% density outliers isolated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78308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73168" y="1911096"/>
            <a:ext cx="402336" cy="402336"/>
          </a:xfrm>
          <a:prstGeom prst="ellipse">
            <a:avLst/>
          </a:prstGeom>
          <a:solidFill>
            <a:srgbClr val="1FB5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4773168" y="1911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1783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</a:rPr>
              <a:t>Remote anomaly detection (IPI)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Isolation Forest 3.47%; one inverter at −15% yield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251460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73168" y="2642616"/>
            <a:ext cx="402336" cy="402336"/>
          </a:xfrm>
          <a:prstGeom prst="ellipse">
            <a:avLst/>
          </a:prstGeom>
          <a:solidFill>
            <a:srgbClr val="3D8B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4773168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303520" y="25146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</a:rPr>
              <a:t>Multi-model supervised classification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LR, DT, RF reach 98.01% 5-fold CV accuracy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63440" y="324612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73168" y="3374136"/>
            <a:ext cx="402336" cy="402336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4773168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303520" y="32461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</a:rPr>
              <a:t>High-accuracy sub-hourly forecasting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HistGB R² 0.9625, MAE 28.77 kW, MAPE 9.1%, no leakage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63440" y="397764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73168" y="4105656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4773168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39776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</a:rPr>
              <a:t>Full-stack deployed system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9-stage web platform, explainable API, audit logs</a:t>
            </a:r>
            <a:endParaRPr lang="en-US" sz="13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A623"/>
                </a:solidFill>
              </a:rPr>
              <a:t>1. DATASET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sensor channels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136,472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105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C99"/>
                </a:solidFill>
              </a:rPr>
              <a:t>SCADA records (P1 68,778 · P2 67,698)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68980" y="109728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26898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B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strings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60420" y="18105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C99"/>
                </a:solidFill>
              </a:rPr>
              <a:t>independent string inverters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09728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08076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8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15-min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8105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C99"/>
                </a:solidFill>
              </a:rPr>
              <a:t>granularity · May–June 2020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" y="2724912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46120" y="246888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383280" y="2724912"/>
            <a:ext cx="457200" cy="457200"/>
          </a:xfrm>
          <a:prstGeom prst="ellipse">
            <a:avLst/>
          </a:prstGeom>
          <a:solidFill>
            <a:srgbClr val="1FB5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0" y="246888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72200" y="2724912"/>
            <a:ext cx="457200" cy="457200"/>
          </a:xfrm>
          <a:prstGeom prst="ellipse">
            <a:avLst/>
          </a:prstGeom>
          <a:solidFill>
            <a:srgbClr val="3D8B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94360" y="3822192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46120" y="3566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383280" y="3822192"/>
            <a:ext cx="457200" cy="457200"/>
          </a:xfrm>
          <a:prstGeom prst="ellipse">
            <a:avLst/>
          </a:prstGeom>
          <a:solidFill>
            <a:srgbClr val="1FB5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035040" y="3566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172200" y="3822192"/>
            <a:ext cx="457200" cy="457200"/>
          </a:xfrm>
          <a:prstGeom prst="ellipse">
            <a:avLst/>
          </a:prstGeom>
          <a:solidFill>
            <a:srgbClr val="3D8B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834640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188720" y="25603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2E"/>
                </a:solidFill>
              </a:rPr>
              <a:t>DATE_TIME &amp; PLANT_ID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Master synchronization key</a:t>
            </a:r>
            <a:endParaRPr lang="en-US" sz="12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2834640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3977640" y="25603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2E"/>
                </a:solidFill>
              </a:rPr>
              <a:t>DC_POWER / AC_POWER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Inverter input; AC is the target</a:t>
            </a:r>
            <a:endParaRPr lang="en-US" sz="12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2834640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766560" y="25603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2E"/>
                </a:solidFill>
              </a:rPr>
              <a:t>DAILY &amp; TOTAL YIELD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Energy meters, drive IPI</a:t>
            </a:r>
            <a:endParaRPr lang="en-US" sz="12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931920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188720" y="3657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2E"/>
                </a:solidFill>
              </a:rPr>
              <a:t>IRRADIATION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r = 0.97 with AC power</a:t>
            </a:r>
            <a:endParaRPr lang="en-US" sz="12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931920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3977640" y="3657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2E"/>
                </a:solidFill>
              </a:rPr>
              <a:t>MODULE &amp; AMBIENT TEMP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~0.4%/°C derating above 25°C</a:t>
            </a:r>
            <a:endParaRPr lang="en-US" sz="12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931920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766560" y="3657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2E"/>
                </a:solidFill>
              </a:rPr>
              <a:t>TEMP_DIFF (ΔT)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Engineered cell-heating predictor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A623"/>
                </a:solidFill>
              </a:rPr>
              <a:t>2. EXPLORATORY DATA ANALYSIS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10× scaling bug hid 97.72% efficiency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1 DC power fix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9.7%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apparent efficiency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8288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697480" y="1645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B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97.72%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after ÷10 correction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6974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Daylight DC 3,147 kW vs AC 307.8 kW exposed the artifact.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Both plants now match.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</a:rPr>
              <a:t>Night (18:30–05:30) is physically zero; modeling is daylight-only to avoid inflated R².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526280" y="1097280"/>
          <a:ext cx="4160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A623"/>
                </a:solidFill>
              </a:rPr>
              <a:t>3. MISSING VALUE REPLACEMENT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3-tier imputation beats naive filling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4081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2618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 gaps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59689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24505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gaps ≤ 1 h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108960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347472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1FB5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78561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6393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gaps &gt; 1 h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4297680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280160" y="16642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75B"/>
                </a:solidFill>
              </a:rPr>
              <a:t>Zero-clamp irradiation (18:30–05:30)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280160" y="28529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75B"/>
                </a:solidFill>
              </a:rPr>
              <a:t>Time linear spline captures cloud trajectory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280160" y="40416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75B"/>
                </a:solidFill>
              </a:rPr>
              <a:t>Diurnal profile matching, same-hour mean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617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C99"/>
                </a:solidFill>
              </a:rPr>
              <a:t>Forward fill can overestimate power by &gt;200% across a 2-hour cloudy gap. Gaps: 82 missing slots in Plant 1, 5 in Plant 2.</a:t>
            </a:r>
            <a:endParaRPr lang="en-US" sz="10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572000" y="109728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A623"/>
                </a:solidFill>
              </a:rPr>
              <a:t>4. PRINCIPAL COMPONENT ANALYSIS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PCs retain 96.17% of variance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47548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40680" y="109728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5440680" y="11887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B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96.17%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532120" y="18105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C99"/>
                </a:solidFill>
              </a:rPr>
              <a:t>cumulative with top 3 PCs (optimal)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40680" y="2468880"/>
            <a:ext cx="3246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55778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468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75B"/>
                </a:solidFill>
              </a:rPr>
              <a:t>Solar flux: irradiance + module temp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40680" y="3200400"/>
            <a:ext cx="3246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5778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3200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75B"/>
                </a:solidFill>
              </a:rPr>
              <a:t>Thermal gradient: ΔT + ambient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40680" y="3931920"/>
            <a:ext cx="3246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557784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75B"/>
                </a:solidFill>
              </a:rPr>
              <a:t>Diurnal solar angle: hour of day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A623"/>
                </a:solidFill>
              </a:rPr>
              <a:t>5. SUPERVISED MODELS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models: boosting wins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3D8B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4081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2618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75B"/>
                </a:solidFill>
              </a:rPr>
              <a:t>Baseline, α = 1.0. R² 0.8741, MAE 46.23 kW, RMSE 68.54 kW. Exports coefficients for instant ± kW explanations.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46120" y="10972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429000" y="1280160"/>
            <a:ext cx="502920" cy="502920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40817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2618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192024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75B"/>
                </a:solidFill>
              </a:rPr>
              <a:t>High vs normal output regime. Accuracy 96.25%, precision 97.77%, recall 94.64%, F1 96.18%.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10972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217920" y="1280160"/>
            <a:ext cx="502920" cy="502920"/>
          </a:xfrm>
          <a:prstGeom prst="ellipse">
            <a:avLst/>
          </a:prstGeom>
          <a:solidFill>
            <a:srgbClr val="1FB5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40817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12618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ensembles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192024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75B"/>
                </a:solidFill>
              </a:rPr>
              <a:t>DT 96.53% acc. RF 96.50% acc. HistGB champion: R² 0.9625, MAE 28.77 kW, MAPE 9.1%, trains in 0.62 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A623"/>
                </a:solidFill>
              </a:rPr>
              <a:t>5. UNSUPERVISED MODELS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Regimes, outliers and faulty hardware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3D8B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4081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2618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(k=3)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75B"/>
                </a:solidFill>
              </a:rPr>
              <a:t>Morning/evening ramp: 9,863. Peak midday: 19,298. Diffuse/cloudy: 9,467 intervals.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46120" y="10972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429000" y="128016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40817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2618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19202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75B"/>
                </a:solidFill>
              </a:rPr>
              <a:t>eps 0.8, min_samples 25. 220 outliers (4.4%): sensor spikes and inverter trips at peak sun.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10972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217920" y="128016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40817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12618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 + IPI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19202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75B"/>
                </a:solidFill>
              </a:rPr>
              <a:t>3.5% contamination flags 1,341 rows. 21 inverters healthy; one at 88.3% IPI, a soiling or string fault.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" y="40690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0B1B2E"/>
          </a:solidFill>
          <a:ln w="12700">
            <a:solidFill>
              <a:srgbClr val="0B1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IPI = (E_daily,i ÷ Median E_daily) × 100%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A623"/>
                </a:solidFill>
              </a:rPr>
              <a:t>6. ACCURACY &amp; METRICS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HistGradientBoosting is the champion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42062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56616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40080" y="35661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2E"/>
                </a:solidFill>
              </a:rPr>
              <a:t>HistGB: MAE 28.77 kW · RMSE 38.93 kW · MAPE 9.1%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7C99"/>
                </a:solidFill>
              </a:rPr>
              <a:t>Trains in 0.62 s vs 8.42 s for Random Forest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892040" y="1097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confusion matrix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50876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1FB5A8"/>
          </a:solidFill>
          <a:ln w="12700">
            <a:solidFill>
              <a:srgbClr val="1FB5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489204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3,812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True negative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12280" y="150876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E4572E">
              <a:alpha val="70000"/>
            </a:srgbClr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81228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False positive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92040" y="29260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E4572E">
              <a:alpha val="70000"/>
            </a:srgbClr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489204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False negative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12280" y="29260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1FB5A8"/>
          </a:solidFill>
          <a:ln w="12700">
            <a:solidFill>
              <a:srgbClr val="1FB5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681228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3,645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True positive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892040" y="43434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C99"/>
                </a:solidFill>
              </a:rPr>
              <a:t>7,726 test rows · accuracy 96.50% · precision 0.9804 · recall 0.9490 · F1 0.9644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A623"/>
                </a:solidFill>
              </a:rPr>
              <a:t>7. CROSS VALIDATION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Validation: stable folds and zero leakage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3931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10972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709160" y="14173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52704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49240" y="1170432"/>
            <a:ext cx="3246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2E"/>
                </a:solidFill>
              </a:rPr>
              <a:t>Shuffled K-Fold leaks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Random shuffling lets future telemetry into training folds and inflates metrics.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0" y="2313432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4709160" y="2633472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74320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49240" y="2386584"/>
            <a:ext cx="3246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2E"/>
                </a:solidFill>
              </a:rPr>
              <a:t>Chronological 80/20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Earliest 80% trains; latest 20% is a sealed holdout, evaluated once.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0" y="3529584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4709160" y="3849624"/>
            <a:ext cx="457200" cy="457200"/>
          </a:xfrm>
          <a:prstGeom prst="ellipse">
            <a:avLst/>
          </a:prstGeom>
          <a:solidFill>
            <a:srgbClr val="1FB5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95935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349240" y="3602736"/>
            <a:ext cx="3246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2E"/>
                </a:solidFill>
              </a:rPr>
              <a:t>Train-only preprocessing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7C99"/>
                </a:solidFill>
              </a:rPr>
              <a:t>Imputers and scalers fit on training data alone, so R² = 0.9625 is honest.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623"/>
                </a:solidFill>
              </a:rPr>
              <a:t>DEPLOYMENT &amp;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SolarSense in production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029968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9-stage web app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E0F0"/>
                </a:solidFill>
              </a:rPr>
              <a:t>Flask + Jinja2, plant toggle, imputation lab, analytics, inference, Chart.js visuals.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64592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474720" y="187452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202996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API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30632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E0F0"/>
                </a:solidFill>
              </a:rPr>
              <a:t>POST /api/predict and GET /api/bundle with ± kW attributions from Ridge weights.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43600" y="164592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172200" y="187452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202996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7220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CleanTech value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172200" y="30632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E0F0"/>
                </a:solidFill>
              </a:rPr>
              <a:t>Fixes IoT dropouts for community solar billing; remote soiling alerts cut site inspections.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arSense">
  <a:themeElements>
    <a:clrScheme name="SolarSense">
      <a:dk1>
        <a:srgbClr val="0B1B2E"/>
      </a:dk1>
      <a:lt1>
        <a:srgbClr val="FFFFFF"/>
      </a:lt1>
      <a:dk2>
        <a:srgbClr val="16324F"/>
      </a:dk2>
      <a:lt2>
        <a:srgbClr val="F4F7FB"/>
      </a:lt2>
      <a:accent1>
        <a:srgbClr val="F5A623"/>
      </a:accent1>
      <a:accent2>
        <a:srgbClr val="1FB5A8"/>
      </a:accent2>
      <a:accent3>
        <a:srgbClr val="5B7C99"/>
      </a:accent3>
      <a:accent4>
        <a:srgbClr val="E4572E"/>
      </a:accent4>
      <a:accent5>
        <a:srgbClr val="3D8BFD"/>
      </a:accent5>
      <a:accent6>
        <a:srgbClr val="8FA3B8"/>
      </a:accent6>
      <a:hlink>
        <a:srgbClr val="3D8BFD"/>
      </a:hlink>
      <a:folHlink>
        <a:srgbClr val="5B7C99"/>
      </a:folHlink>
    </a:clrScheme>
    <a:fontScheme name="SolarS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899</Words>
  <Application>Microsoft Office PowerPoint</Application>
  <PresentationFormat>On-screen Show (16:9)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SolarSense</vt:lpstr>
      <vt:lpstr>PowerPoint Presentation</vt:lpstr>
      <vt:lpstr>Core objectives, methods and contributions</vt:lpstr>
      <vt:lpstr>Dataset and sensor channels</vt:lpstr>
      <vt:lpstr>A 10× scaling bug hid 97.72% efficiency</vt:lpstr>
      <vt:lpstr>3-tier imputation beats naive filling</vt:lpstr>
      <vt:lpstr>3 PCs retain 96.17% of variance</vt:lpstr>
      <vt:lpstr>Supervised models: boosting wins</vt:lpstr>
      <vt:lpstr>Regimes, outliers and faulty hardware</vt:lpstr>
      <vt:lpstr>HistGradientBoosting is the champion</vt:lpstr>
      <vt:lpstr>Validation: stable folds and zero leakage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SolarSense</dc:title>
  <dc:subject>PptxGenJS Presentation</dc:subject>
  <dc:creator>PptxGenJS</dc:creator>
  <cp:lastModifiedBy>naren.svim@outlook.com</cp:lastModifiedBy>
  <cp:revision>2</cp:revision>
  <dcterms:created xsi:type="dcterms:W3CDTF">2026-10-09T04:00:03Z</dcterms:created>
  <dcterms:modified xsi:type="dcterms:W3CDTF">2026-10-09T05:20:18Z</dcterms:modified>
</cp:coreProperties>
</file>